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828800" y="-1371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0A1A4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0" y="32004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A0F38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3657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916"/>
                </a:solidFill>
                <a:latin typeface="Consolas"/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02336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80">
                <a:solidFill>
                  <a:srgbClr val="E2E8F0"/>
                </a:solidFill>
                <a:latin typeface="Calibri"/>
              </a:rPr>
              <a:t>PDEX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402336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111C3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384048"/>
            <a:ext cx="2103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34D399"/>
                </a:solidFill>
                <a:latin typeface="Calibri"/>
              </a:rPr>
              <a:t>● Apresentação 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80">
                <a:solidFill>
                  <a:srgbClr val="22D3EE"/>
                </a:solidFill>
                <a:latin typeface="Consolas"/>
              </a:rPr>
              <a:t>PDEX · PME · ERP · SEM LIMITES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10972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E2E8F0"/>
                </a:solidFill>
                <a:latin typeface="Calibri"/>
              </a:rPr>
              <a:t>O ERP </a:t>
            </a:r>
            <a:r>
              <a:rPr sz="6000" b="1">
                <a:solidFill>
                  <a:srgbClr val="22D3EE"/>
                </a:solidFill>
                <a:latin typeface="Calibri"/>
              </a:rPr>
              <a:t>completo </a:t>
            </a:r>
            <a:r>
              <a:rPr sz="6000" b="1">
                <a:solidFill>
                  <a:srgbClr val="E2E8F0"/>
                </a:solidFill>
                <a:latin typeface="Calibri"/>
              </a:rPr>
              <a:t>para PMEs
brasileiras.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CRM, Vendas, Fiscal, Financeiro, Estoque e Multi-empresa em uma única plataforma.</a:t>
            </a:r>
          </a:p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Cadastro em 5 minutos. Sem instalação. Compatível com a Reforma Tributária 2027.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577840"/>
            <a:ext cx="2377440" cy="502920"/>
          </a:xfrm>
          <a:prstGeom prst="roundRect">
            <a:avLst>
              <a:gd name="adj" fmla="val 35000"/>
            </a:avLst>
          </a:prstGeom>
          <a:solidFill>
            <a:srgbClr val="3B82F6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5778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50916"/>
                </a:solidFill>
                <a:latin typeface="Calibri"/>
              </a:rPr>
              <a:t>Solicitar demonstração  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5577840"/>
            <a:ext cx="1463040" cy="502920"/>
          </a:xfrm>
          <a:prstGeom prst="roundRect">
            <a:avLst>
              <a:gd name="adj" fmla="val 35000"/>
            </a:avLst>
          </a:prstGeom>
          <a:solidFill>
            <a:srgbClr val="05091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5577840"/>
            <a:ext cx="1463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2E8F0"/>
                </a:solidFill>
                <a:latin typeface="Calibri"/>
              </a:rPr>
              <a:t>Ver planos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PDEX · PME · ERP · Sem Limites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01 / 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309360"/>
            <a:ext cx="11277295" cy="381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6309360"/>
            <a:ext cx="1253032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916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02336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80">
                <a:solidFill>
                  <a:srgbClr val="E2E8F0"/>
                </a:solidFill>
                <a:latin typeface="Calibri"/>
              </a:rPr>
              <a:t>PDEX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80">
                <a:solidFill>
                  <a:srgbClr val="22D3EE"/>
                </a:solidFill>
                <a:latin typeface="Consolas"/>
              </a:rPr>
              <a:t>O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Calibri"/>
              </a:rPr>
              <a:t>Gestão fragmentada custa </a:t>
            </a:r>
            <a:r>
              <a:rPr sz="3400" b="1">
                <a:solidFill>
                  <a:srgbClr val="22D3EE"/>
                </a:solidFill>
                <a:latin typeface="Calibri"/>
              </a:rPr>
              <a:t>40% do faturamento </a:t>
            </a:r>
            <a:r>
              <a:rPr sz="3400" b="1">
                <a:solidFill>
                  <a:srgbClr val="E2E8F0"/>
                </a:solidFill>
                <a:latin typeface="Calibri"/>
              </a:rPr>
              <a:t>da sua PME.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7 em cada 10 pequenas empresas ainda operam com planilhas, WhatsApp e sistemas que não conversam.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80360"/>
            <a:ext cx="5532120" cy="3200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880360"/>
            <a:ext cx="5532120" cy="3200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80">
                <a:solidFill>
                  <a:srgbClr val="F43F5E"/>
                </a:solidFill>
                <a:latin typeface="Consolas"/>
              </a:rPr>
              <a:t>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63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80">
                <a:solidFill>
                  <a:srgbClr val="34D399"/>
                </a:solidFill>
                <a:latin typeface="Consolas"/>
              </a:rPr>
              <a:t>COM PDEX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5204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50916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204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  <a:latin typeface="Calibr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43814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Vendas perdidas no WhatsApp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6758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Leads somem, follow-up manual, zero previsibilidade.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4223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50916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4223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  <a:latin typeface="Calibr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5993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Planilhas desatualizadas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297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Estoque e caixa que ninguém confia.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76402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50916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76402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  <a:latin typeface="Calibr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68172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ERP legado caro e travado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9194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R$ 3.000/mês, implantação de 6 meses.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38581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50916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3858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43F5E"/>
                </a:solidFill>
                <a:latin typeface="Calibr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30352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Impostos sem controle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54126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Reforma 2027 chegando e ninguém preparado.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35204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50916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52044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343814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Pipeline visual e automatizado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67588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Todo lead capturado, acompanhado e convertido.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14223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50916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14223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05993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Dashboard em tempo real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297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KPIs de vendas, financeiro e estoque num só painel.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476402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50916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764024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68172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Preço justo, ativação em 1 dia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919472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 partir de R$ 99/mês. Sem taxa de setup.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0" y="538581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050916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385816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34D399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303520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Fiscal pronto para o futuro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5541264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Motor tributário com CBS + IBS já configurado.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PDEX · PME · ERP · Sem Limites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02 / 09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6309360"/>
            <a:ext cx="11277295" cy="381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57200" y="6309360"/>
            <a:ext cx="2506065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916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02336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80">
                <a:solidFill>
                  <a:srgbClr val="E2E8F0"/>
                </a:solidFill>
                <a:latin typeface="Calibri"/>
              </a:rPr>
              <a:t>PDEX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80">
                <a:solidFill>
                  <a:srgbClr val="22D3EE"/>
                </a:solidFill>
                <a:latin typeface="Consolas"/>
              </a:rPr>
              <a:t>A SOLUÇÃO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2E8F0"/>
                </a:solidFill>
                <a:latin typeface="Calibri"/>
              </a:rPr>
              <a:t>Uma plataforma. </a:t>
            </a:r>
            <a:r>
              <a:rPr sz="3400" b="1">
                <a:solidFill>
                  <a:srgbClr val="22D3EE"/>
                </a:solidFill>
                <a:latin typeface="Calibri"/>
              </a:rPr>
              <a:t>Seis módulos. </a:t>
            </a:r>
            <a:r>
              <a:rPr sz="3400" b="1">
                <a:solidFill>
                  <a:srgbClr val="E2E8F0"/>
                </a:solidFill>
                <a:latin typeface="Calibri"/>
              </a:rPr>
              <a:t>Zero fricção.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Calibri"/>
              </a:rPr>
              <a:t>Do lead ao balancete — tudo integrado, mobile-first, com auditoria e LGPD nativos.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80360"/>
            <a:ext cx="3703320" cy="1600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3081528"/>
            <a:ext cx="685800" cy="457200"/>
          </a:xfrm>
          <a:prstGeom prst="roundRect">
            <a:avLst>
              <a:gd name="adj" fmla="val 25000"/>
            </a:avLst>
          </a:prstGeom>
          <a:solidFill>
            <a:srgbClr val="050916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081528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2D3EE"/>
                </a:solidFill>
                <a:latin typeface="Consolas"/>
              </a:rPr>
              <a:t>CRM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6118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CRM &amp;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319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Kanban visual, captura via landing, atribuição automática e conversão em pedido com 1 clique.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2880360"/>
            <a:ext cx="3703320" cy="1600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60" y="3081528"/>
            <a:ext cx="685800" cy="457200"/>
          </a:xfrm>
          <a:prstGeom prst="roundRect">
            <a:avLst>
              <a:gd name="adj" fmla="val 25000"/>
            </a:avLst>
          </a:prstGeom>
          <a:solidFill>
            <a:srgbClr val="050916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3081528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onsolas"/>
              </a:rPr>
              <a:t>VDA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6118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Vendas &amp; Catálogo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319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Produtos, preços, descontos, comissões e pedidos com impostos calculados na hora.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2880360"/>
            <a:ext cx="3703320" cy="1600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02752" y="3081528"/>
            <a:ext cx="685800" cy="457200"/>
          </a:xfrm>
          <a:prstGeom prst="roundRect">
            <a:avLst>
              <a:gd name="adj" fmla="val 25000"/>
            </a:avLst>
          </a:prstGeom>
          <a:solidFill>
            <a:srgbClr val="050916"/>
          </a:solidFill>
          <a:ln w="952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3081528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8B5CF6"/>
                </a:solidFill>
                <a:latin typeface="Consolas"/>
              </a:rPr>
              <a:t>FIS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611880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Fiscal &amp; Reforma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39319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ICMS/PIS/COFINS/ISS/IPI hoje, CBS+IBS para 2027. Exporta SPED e CSV.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99432"/>
            <a:ext cx="3703320" cy="1600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8368" y="4800600"/>
            <a:ext cx="685800" cy="457200"/>
          </a:xfrm>
          <a:prstGeom prst="roundRect">
            <a:avLst>
              <a:gd name="adj" fmla="val 25000"/>
            </a:avLst>
          </a:prstGeom>
          <a:solidFill>
            <a:srgbClr val="050916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80060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34D399"/>
                </a:solidFill>
                <a:latin typeface="Consolas"/>
              </a:rPr>
              <a:t>FIN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3309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Financeiro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65099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Dashboard executivo, metas de faturamento, contas a receber e relatórios do contador.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9392" y="4599432"/>
            <a:ext cx="3703320" cy="1600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80560" y="4800600"/>
            <a:ext cx="685800" cy="457200"/>
          </a:xfrm>
          <a:prstGeom prst="roundRect">
            <a:avLst>
              <a:gd name="adj" fmla="val 25000"/>
            </a:avLst>
          </a:prstGeom>
          <a:solidFill>
            <a:srgbClr val="050916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480060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onsolas"/>
              </a:rPr>
              <a:t>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309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Estoque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565099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Controle multi-depósito, alertas de mínimo e movimentações auditadas.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1584" y="4599432"/>
            <a:ext cx="3703320" cy="1600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02752" y="4800600"/>
            <a:ext cx="685800" cy="457200"/>
          </a:xfrm>
          <a:prstGeom prst="roundRect">
            <a:avLst>
              <a:gd name="adj" fmla="val 25000"/>
            </a:avLst>
          </a:prstGeom>
          <a:solidFill>
            <a:srgbClr val="050916"/>
          </a:solidFill>
          <a:ln w="9525">
            <a:solidFill>
              <a:srgbClr val="F43F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480060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43F5E"/>
                </a:solidFill>
                <a:latin typeface="Consolas"/>
              </a:rPr>
              <a:t>MT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533095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2E8F0"/>
                </a:solidFill>
                <a:latin typeface="Calibri"/>
              </a:rPr>
              <a:t>Multi-empresa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565099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Uma conta, várias filiais/CNPJs. Isolamento total dos dados por tenant.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PDEX · PME · ERP · Sem Limites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03 / 09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309360"/>
            <a:ext cx="11277295" cy="381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7200" y="6309360"/>
            <a:ext cx="3759098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916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02336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80">
                <a:solidFill>
                  <a:srgbClr val="E2E8F0"/>
                </a:solidFill>
                <a:latin typeface="Calibri"/>
              </a:rPr>
              <a:t>PDEX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80">
                <a:solidFill>
                  <a:srgbClr val="22D3EE"/>
                </a:solidFill>
                <a:latin typeface="Consolas"/>
              </a:rPr>
              <a:t>POR QUE PDEX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Calibri"/>
              </a:rPr>
              <a:t>Feito para a PME </a:t>
            </a:r>
            <a:r>
              <a:rPr sz="3000" b="1">
                <a:solidFill>
                  <a:srgbClr val="22D3EE"/>
                </a:solidFill>
                <a:latin typeface="Calibri"/>
              </a:rPr>
              <a:t>brasileira de verdade.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2613583" cy="1234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6135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80">
                <a:solidFill>
                  <a:srgbClr val="94A3B8"/>
                </a:solidFill>
                <a:latin typeface="Calibri"/>
              </a:rPr>
              <a:t>ATIVAÇÃO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261358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27832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onsolas"/>
              </a:rPr>
              <a:t>setup em 1 dia útil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5103" y="2331720"/>
            <a:ext cx="2613583" cy="1234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3703" y="2468880"/>
            <a:ext cx="26135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80">
                <a:solidFill>
                  <a:srgbClr val="94A3B8"/>
                </a:solidFill>
                <a:latin typeface="Calibri"/>
              </a:rPr>
              <a:t>MÓDULOS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703" y="2697480"/>
            <a:ext cx="261358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6 +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703" y="3227832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onsolas"/>
              </a:rPr>
              <a:t>CRM · VDA · FIS · FIN · EST · MT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331720"/>
            <a:ext cx="2613583" cy="1234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2468880"/>
            <a:ext cx="26135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80">
                <a:solidFill>
                  <a:srgbClr val="94A3B8"/>
                </a:solidFill>
                <a:latin typeface="Calibri"/>
              </a:rPr>
              <a:t>UPTIME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2697480"/>
            <a:ext cx="261358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99,9%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227832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onsolas"/>
              </a:rPr>
              <a:t>infra managed 24/7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20911" y="2331720"/>
            <a:ext cx="2613583" cy="1234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9511" y="2468880"/>
            <a:ext cx="26135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80">
                <a:solidFill>
                  <a:srgbClr val="94A3B8"/>
                </a:solidFill>
                <a:latin typeface="Calibri"/>
              </a:rPr>
              <a:t>LGPD &amp; SOC-2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9511" y="2697480"/>
            <a:ext cx="261358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2E8F0"/>
                </a:solidFill>
                <a:latin typeface="Calibri"/>
              </a:rPr>
              <a:t>Nativo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9511" y="3227832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onsolas"/>
              </a:rPr>
              <a:t>audit log em cada mutação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794760"/>
            <a:ext cx="11274552" cy="2267712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840480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40">
                <a:solidFill>
                  <a:srgbClr val="94A3B8"/>
                </a:solidFill>
                <a:latin typeface="Calibri"/>
              </a:rPr>
              <a:t>CRITÉRIO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84048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40">
                <a:solidFill>
                  <a:srgbClr val="94A3B8"/>
                </a:solidFill>
                <a:latin typeface="Calibri"/>
              </a:rPr>
              <a:t>PLANILHAS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84048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40">
                <a:solidFill>
                  <a:srgbClr val="94A3B8"/>
                </a:solidFill>
                <a:latin typeface="Calibri"/>
              </a:rPr>
              <a:t>ERP LEGADO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3840480"/>
            <a:ext cx="2862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40">
                <a:solidFill>
                  <a:srgbClr val="94A3B8"/>
                </a:solidFill>
                <a:latin typeface="Calibri"/>
              </a:rPr>
              <a:t>PDEX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15137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Preço mensal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15137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R$ 0 (oculto)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15137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R$ 1.500 – 5.000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151376"/>
            <a:ext cx="2862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A partir de R$ 99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462272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Implantação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44622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Infinito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462272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3 – 6 meses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6840" y="4462272"/>
            <a:ext cx="2862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1 dia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773168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Mobile-first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477316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773168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Parcial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4773168"/>
            <a:ext cx="2862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Sim, bottom-nav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508406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Multi-empresa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508406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084064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Custo extra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5084064"/>
            <a:ext cx="2862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Incluso no Pro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394960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Reforma 2027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0440" y="539496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5394960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Roadmap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5394960"/>
            <a:ext cx="2862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Já configurado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5705856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LGPD &amp; Audit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20440" y="570585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5705856"/>
            <a:ext cx="2743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Add-on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5705856"/>
            <a:ext cx="28620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Calibri"/>
              </a:rPr>
              <a:t>Nativo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PDEX · PME · ERP · Sem Limites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04 / 09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6309360"/>
            <a:ext cx="11277295" cy="381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57200" y="6309360"/>
            <a:ext cx="5012131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916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02336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80">
                <a:solidFill>
                  <a:srgbClr val="E2E8F0"/>
                </a:solidFill>
                <a:latin typeface="Calibri"/>
              </a:rPr>
              <a:t>PDEX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80">
                <a:solidFill>
                  <a:srgbClr val="22D3EE"/>
                </a:solidFill>
                <a:latin typeface="Consolas"/>
              </a:rPr>
              <a:t>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Calibri"/>
              </a:rPr>
              <a:t>Impacto real em </a:t>
            </a:r>
            <a:r>
              <a:rPr sz="3000" b="1">
                <a:solidFill>
                  <a:srgbClr val="22D3EE"/>
                </a:solidFill>
                <a:latin typeface="Calibri"/>
              </a:rPr>
              <a:t>90 dias.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31720"/>
            <a:ext cx="2613583" cy="1234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26135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60">
                <a:solidFill>
                  <a:srgbClr val="94A3B8"/>
                </a:solidFill>
                <a:latin typeface="Calibri"/>
              </a:rPr>
              <a:t>CONVERSÃO DE LEAD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261358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Calibri"/>
              </a:rPr>
              <a:t>+38%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64408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onsolas"/>
              </a:rPr>
              <a:t>pipeline sem furos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45103" y="2331720"/>
            <a:ext cx="2613583" cy="1234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3703" y="2468880"/>
            <a:ext cx="26135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60">
                <a:solidFill>
                  <a:srgbClr val="94A3B8"/>
                </a:solidFill>
                <a:latin typeface="Calibri"/>
              </a:rPr>
              <a:t>TEMPO DE FECHAMENTO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3703" y="2697480"/>
            <a:ext cx="261358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Calibri"/>
              </a:rPr>
              <a:t>−42%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703" y="3264408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onsolas"/>
              </a:rPr>
              <a:t>follow-up automático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331720"/>
            <a:ext cx="2613583" cy="1234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1607" y="2468880"/>
            <a:ext cx="26135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60">
                <a:solidFill>
                  <a:srgbClr val="94A3B8"/>
                </a:solidFill>
                <a:latin typeface="Calibri"/>
              </a:rPr>
              <a:t>ERROS FISCAIS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1607" y="2697480"/>
            <a:ext cx="261358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Calibri"/>
              </a:rPr>
              <a:t>−73%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264408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onsolas"/>
              </a:rPr>
              <a:t>motor tributário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20911" y="2331720"/>
            <a:ext cx="2613583" cy="123444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9511" y="2468880"/>
            <a:ext cx="261358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160">
                <a:solidFill>
                  <a:srgbClr val="94A3B8"/>
                </a:solidFill>
                <a:latin typeface="Calibri"/>
              </a:rPr>
              <a:t>HORAS DO CONTADOR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49511" y="2697480"/>
            <a:ext cx="261358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2D3EE"/>
                </a:solidFill>
                <a:latin typeface="Calibri"/>
              </a:rPr>
              <a:t>−60%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49511" y="3264408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onsolas"/>
              </a:rPr>
              <a:t>SPED/CSV prontos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840480"/>
            <a:ext cx="5532120" cy="2103120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02336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★ ★ ★ ★ 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43400"/>
            <a:ext cx="5074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2E8F0"/>
                </a:solidFill>
                <a:latin typeface="Calibri"/>
              </a:rPr>
              <a:t>“Saímos de 3 planilhas + WhatsApp para o PDEX em uma semana. Nosso ticket médio subiu 22% no primeiro mês.”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349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49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916"/>
                </a:solidFill>
                <a:latin typeface="Calibri"/>
              </a:rPr>
              <a:t>RC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5321808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Renata Campos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5559552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Diretora Comercial · Distribuidora BR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840480"/>
            <a:ext cx="5532120" cy="2103120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023360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★ ★ ★ ★ 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343400"/>
            <a:ext cx="5074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2E8F0"/>
                </a:solidFill>
                <a:latin typeface="Calibri"/>
              </a:rPr>
              <a:t>“Multi-empresa nativo salvou a operação de 3 filiais. Hoje tenho um dashboard consolidado sem depender do TI.”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53492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3492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50916"/>
                </a:solidFill>
                <a:latin typeface="Calibri"/>
              </a:rPr>
              <a:t>MA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5321808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2E8F0"/>
                </a:solidFill>
                <a:latin typeface="Calibri"/>
              </a:rPr>
              <a:t>Marcos Almeida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8" y="5559552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CEO · Grupo Vitta Comércio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PDEX · PME · ERP · Sem Limites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05 / 09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309360"/>
            <a:ext cx="11277295" cy="381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6309360"/>
            <a:ext cx="6265163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916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02336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80">
                <a:solidFill>
                  <a:srgbClr val="E2E8F0"/>
                </a:solidFill>
                <a:latin typeface="Calibri"/>
              </a:rPr>
              <a:t>PDEX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80">
                <a:solidFill>
                  <a:srgbClr val="22D3EE"/>
                </a:solidFill>
                <a:latin typeface="Consolas"/>
              </a:rPr>
              <a:t>COMO FUNCIONA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Calibri"/>
              </a:rPr>
              <a:t>Do cadastro ao </a:t>
            </a:r>
            <a:r>
              <a:rPr sz="3000" b="1">
                <a:solidFill>
                  <a:srgbClr val="22D3EE"/>
                </a:solidFill>
                <a:latin typeface="Calibri"/>
              </a:rPr>
              <a:t>primeiro pedido em 24h.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5532120" cy="12344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72491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24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916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7004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Cadastro instantâneo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99923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Onboarding wizard cria o tenant, importa produtos e usuários por CSV.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468880"/>
            <a:ext cx="5532120" cy="12344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272491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7249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916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67004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Landing pública 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299923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Formulário integrado ao CRM captura leads do site direto no pipeline.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5532120" cy="12344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409651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965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916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04164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Vendedores online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37083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App mobile e web, com bottom-nav e swipe drawer para uso em campo.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840480"/>
            <a:ext cx="5532120" cy="12344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409651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0965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916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404164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Pedidos e Fiscal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437083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Impostos calculados no ato. Emissão via provedor conectado (Focus/devnota).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212080"/>
            <a:ext cx="5532120" cy="12344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" y="546811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4681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916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41324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Financeiro &amp; Metas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74243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Dashboard executivo com metas mensais e alertas em tempo real.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5212080"/>
            <a:ext cx="5532120" cy="12344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55080" y="546811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46811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916"/>
                </a:solidFill>
                <a:latin typeface="Calibr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5413248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Contador plugado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5742432"/>
            <a:ext cx="4434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Perfil read-only exporta SPED, CSV e relatórios sem tocar em nada.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PDEX · PME · ERP · Sem Limites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06 / 09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309360"/>
            <a:ext cx="11277295" cy="381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6309360"/>
            <a:ext cx="7518196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916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02336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80">
                <a:solidFill>
                  <a:srgbClr val="E2E8F0"/>
                </a:solidFill>
                <a:latin typeface="Calibri"/>
              </a:rPr>
              <a:t>PDEX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80">
                <a:solidFill>
                  <a:srgbClr val="22D3EE"/>
                </a:solidFill>
                <a:latin typeface="Consolas"/>
              </a:rPr>
              <a:t>SEGURANÇA ·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Calibri"/>
              </a:rPr>
              <a:t>Dados isolados, </a:t>
            </a:r>
            <a:r>
              <a:rPr sz="3000" b="1">
                <a:solidFill>
                  <a:srgbClr val="22D3EE"/>
                </a:solidFill>
                <a:latin typeface="Calibri"/>
              </a:rPr>
              <a:t>auditados e criptografados.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3160"/>
            <a:ext cx="3703320" cy="15544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6517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50916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D3EE"/>
                </a:solidFill>
                <a:latin typeface="Calibri"/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7296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Multi-tenant seguro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Row-level isolation por tenant_id. Sua empresa nunca cruza com outra.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2423160"/>
            <a:ext cx="3703320" cy="15544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07992" y="26517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50916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651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D3EE"/>
                </a:solidFill>
                <a:latin typeface="Calibri"/>
              </a:rPr>
              <a:t>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17296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Audit Log SOC-2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4747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Cada login, mutação e export gera evento com IP e device.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4" y="2423160"/>
            <a:ext cx="3703320" cy="15544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30184" y="26517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50916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26517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D3EE"/>
                </a:solidFill>
                <a:latin typeface="Calibri"/>
              </a:rPr>
              <a:t>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317296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LGPD nativo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347472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Consent, anonimização e portabilidade de dados em 1 clique.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96512"/>
            <a:ext cx="3703320" cy="15544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" y="432511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50916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3251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D3EE"/>
                </a:solidFill>
                <a:latin typeface="Calibri"/>
              </a:rPr>
              <a:t>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8463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JWT + RBAC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14807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4 perfis (Super-admin, Admin, Vendedor, Contador) com middleware.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9392" y="4096512"/>
            <a:ext cx="3703320" cy="15544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07992" y="432511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50916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07992" y="43251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D3EE"/>
                </a:solidFill>
                <a:latin typeface="Calibri"/>
              </a:rPr>
              <a:t>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07992" y="48463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Backup diário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514807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Snapshots automáticos e restore point-in-time.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1584" y="4096512"/>
            <a:ext cx="3703320" cy="15544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30184" y="432511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050916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4" y="43251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0">
                <a:solidFill>
                  <a:srgbClr val="22D3EE"/>
                </a:solidFill>
                <a:latin typeface="Calibri"/>
              </a:rPr>
              <a:t>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0184" y="4846320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2E8F0"/>
                </a:solidFill>
                <a:latin typeface="Calibri"/>
              </a:rPr>
              <a:t>Email transacional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4" y="514807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Convites e alertas via Resend com DKIM/SPF configurados.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PDEX · PME · ERP · Sem Limites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07 / 09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6309360"/>
            <a:ext cx="11277295" cy="381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7200" y="6309360"/>
            <a:ext cx="8771229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657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916"/>
                </a:solidFill>
                <a:latin typeface="Consolas"/>
              </a:rPr>
              <a:t>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02336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80">
                <a:solidFill>
                  <a:srgbClr val="E2E8F0"/>
                </a:solidFill>
                <a:latin typeface="Calibri"/>
              </a:rPr>
              <a:t>PDEX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80">
                <a:solidFill>
                  <a:srgbClr val="22D3EE"/>
                </a:solidFill>
                <a:latin typeface="Consolas"/>
              </a:rPr>
              <a:t>INVESTIMENTO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Calibri"/>
              </a:rPr>
              <a:t>Planos que </a:t>
            </a:r>
            <a:r>
              <a:rPr sz="3000" b="1">
                <a:solidFill>
                  <a:srgbClr val="22D3EE"/>
                </a:solidFill>
                <a:latin typeface="Calibri"/>
              </a:rPr>
              <a:t>acompanham seu crescimento.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3703320" cy="38404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94A3B8"/>
                </a:solidFill>
                <a:latin typeface="Calibri"/>
              </a:rPr>
              <a:t>STARTER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8036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2E8F0"/>
                </a:solidFill>
                <a:latin typeface="Calibri"/>
              </a:rPr>
              <a:t>R$ 99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/mês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9476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Para começar sem dor.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062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3 usuários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9884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1 empresa (CNPJ)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CRM + Vendas + Estoque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84064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Landing pública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7667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Suporte por email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2377440"/>
            <a:ext cx="3703320" cy="38404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905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256032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22D3EE"/>
                </a:solidFill>
                <a:latin typeface="Calibri"/>
              </a:rPr>
              <a:t>PRO — MAIS ESCOLHIDO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88036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2E8F0"/>
                </a:solidFill>
                <a:latin typeface="Calibri"/>
              </a:rPr>
              <a:t>R$ 299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5204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/mês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79476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O ERP completo da sua PME.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2062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10 usuários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9884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Até 3 empresas (multi-tenant)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791456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Fiscal completo + Reforma 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5084064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Dashboard financeiro + Metas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37667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Perfil Contador + SPED/CSV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6692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Suporte prioritário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2377440"/>
            <a:ext cx="3703320" cy="38404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256032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8B5CF6"/>
                </a:solidFill>
                <a:latin typeface="Calibri"/>
              </a:rPr>
              <a:t>BUSINESS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880360"/>
            <a:ext cx="3337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E2E8F0"/>
                </a:solidFill>
                <a:latin typeface="Calibri"/>
              </a:rPr>
              <a:t>R$ 799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5204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/mês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79476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Para operações que escalam.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20624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Usuários ilimitados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4498848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Empresas ilimitadas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791456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Integrações (WhatsApp, ML, Shopee)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5084064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Audit Log avançado + LGPD advanced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5376672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SLA 99,9% + SSO/SAML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5669280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✓  CSM dedicado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Todos os planos com 14 dias grátis · sem cartão de crédito · cancele quando quiser.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PDEX · PME · ERP · Sem Limites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08 / 09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6309360"/>
            <a:ext cx="11277295" cy="381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57200" y="6309360"/>
            <a:ext cx="10024262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828800" y="-1371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0A1A40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0" y="32004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A0F38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36576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050916"/>
                </a:solidFill>
                <a:latin typeface="Consolas"/>
              </a:rPr>
              <a:t>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02336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 spc="80">
                <a:solidFill>
                  <a:srgbClr val="E2E8F0"/>
                </a:solidFill>
                <a:latin typeface="Calibri"/>
              </a:rPr>
              <a:t>PDEX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80">
                <a:solidFill>
                  <a:srgbClr val="22D3EE"/>
                </a:solidFill>
                <a:latin typeface="Consolas"/>
              </a:rPr>
              <a:t>VAMOS COMEÇAR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E2E8F0"/>
                </a:solidFill>
                <a:latin typeface="Calibri"/>
              </a:rPr>
              <a:t>Pare de perder
</a:t>
            </a:r>
            <a:r>
              <a:rPr sz="5800" b="1">
                <a:solidFill>
                  <a:srgbClr val="22D3EE"/>
                </a:solidFill>
                <a:latin typeface="Calibri"/>
              </a:rPr>
              <a:t>tempo e vendas.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0">
                <a:solidFill>
                  <a:srgbClr val="94A3B8"/>
                </a:solidFill>
                <a:latin typeface="Calibri"/>
              </a:rPr>
              <a:t>Ative o PDEX hoje e veja seu primeiro pedido saindo em 24 horas.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5349240"/>
            <a:ext cx="2194560" cy="502920"/>
          </a:xfrm>
          <a:prstGeom prst="roundRect">
            <a:avLst>
              <a:gd name="adj" fmla="val 35000"/>
            </a:avLst>
          </a:prstGeom>
          <a:solidFill>
            <a:srgbClr val="3B82F6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534924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50916"/>
                </a:solidFill>
                <a:latin typeface="Calibri"/>
              </a:rPr>
              <a:t>Iniciar teste grátis  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5349240"/>
            <a:ext cx="1920240" cy="502920"/>
          </a:xfrm>
          <a:prstGeom prst="roundRect">
            <a:avLst>
              <a:gd name="adj" fmla="val 35000"/>
            </a:avLst>
          </a:prstGeom>
          <a:solidFill>
            <a:srgbClr val="050916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53492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2E8F0"/>
                </a:solidFill>
                <a:latin typeface="Calibri"/>
              </a:rPr>
              <a:t>Falar com vendas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pdex.com.br  ·  contato@pdex.com.br  ·  Feito no Brasil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PDEX · PME · ERP · Sem Limites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onsolas"/>
              </a:rPr>
              <a:t>09 / 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6309360"/>
            <a:ext cx="11277295" cy="381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6309360"/>
            <a:ext cx="11277295" cy="381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 w="952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